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sldIdLst>
    <p:sldId id="256" r:id="rId2"/>
    <p:sldId id="259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1F7"/>
    <a:srgbClr val="FBCAC5"/>
    <a:srgbClr val="FFF1C5"/>
    <a:srgbClr val="B1FDE9"/>
    <a:srgbClr val="FF5757"/>
    <a:srgbClr val="F06C82"/>
    <a:srgbClr val="FFE181"/>
    <a:srgbClr val="F57567"/>
    <a:srgbClr val="F4CDBC"/>
    <a:srgbClr val="FFB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CAE134-599B-4919-90CE-C34035FEE7B6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57968-9BC4-43ED-A321-D4895A31F7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108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57968-9BC4-43ED-A321-D4895A31F76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64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308C0-97EF-463C-9798-A6F32F7302E6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9B9168F-B4B6-49A7-BB48-E94B2EF2F12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2542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308C0-97EF-463C-9798-A6F32F7302E6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9168F-B4B6-49A7-BB48-E94B2EF2F124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984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308C0-97EF-463C-9798-A6F32F7302E6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9168F-B4B6-49A7-BB48-E94B2EF2F12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29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308C0-97EF-463C-9798-A6F32F7302E6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9168F-B4B6-49A7-BB48-E94B2EF2F124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7816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308C0-97EF-463C-9798-A6F32F7302E6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9168F-B4B6-49A7-BB48-E94B2EF2F124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8075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308C0-97EF-463C-9798-A6F32F7302E6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9168F-B4B6-49A7-BB48-E94B2EF2F124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15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308C0-97EF-463C-9798-A6F32F7302E6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9168F-B4B6-49A7-BB48-E94B2EF2F1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235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308C0-97EF-463C-9798-A6F32F7302E6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9168F-B4B6-49A7-BB48-E94B2EF2F124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177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BB308C0-97EF-463C-9798-A6F32F7302E6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9168F-B4B6-49A7-BB48-E94B2EF2F124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558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308C0-97EF-463C-9798-A6F32F7302E6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9168F-B4B6-49A7-BB48-E94B2EF2F124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0737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308C0-97EF-463C-9798-A6F32F7302E6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9168F-B4B6-49A7-BB48-E94B2EF2F12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6539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B308C0-97EF-463C-9798-A6F32F7302E6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9B9168F-B4B6-49A7-BB48-E94B2EF2F124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0350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9C0CA-3D15-4A60-09CD-0D9A53357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7463" y="1015037"/>
            <a:ext cx="8637073" cy="2541431"/>
          </a:xfrm>
        </p:spPr>
        <p:txBody>
          <a:bodyPr anchor="ctr"/>
          <a:lstStyle/>
          <a:p>
            <a:pPr algn="ctr"/>
            <a:r>
              <a:rPr lang="en-US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stA="20000" endPos="50000" dist="25400" dir="5400000" sy="-100000" algn="bl" rotWithShape="0"/>
                </a:effectLst>
              </a:rPr>
              <a:t>Executive Summary </a:t>
            </a:r>
            <a:endParaRPr lang="en-IN" b="1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stA="20000" endPos="50000" dist="25400" dir="5400000" sy="-100000" algn="bl" rotWithShape="0"/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EFEAB2-583A-6ECF-60C2-2C92FF8990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1899" y="4069224"/>
            <a:ext cx="9228201" cy="1259860"/>
          </a:xfrm>
        </p:spPr>
        <p:txBody>
          <a:bodyPr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3200" dirty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stA="20000" endPos="50000" dist="25400" dir="5400000" sy="-100000" algn="bl" rotWithShape="0"/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Effective Storytelling</a:t>
            </a:r>
            <a:endParaRPr lang="en-IN" sz="3200" dirty="0"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stA="20000" endPos="50000" dist="25400" dir="5400000" sy="-100000" algn="bl" rotWithShape="0"/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9679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2C818FC-F6DD-DFAD-3D16-B4FABDF44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0B9B8ED-C25F-ADDC-D4C2-F7C4E1E3E980}"/>
              </a:ext>
            </a:extLst>
          </p:cNvPr>
          <p:cNvSpPr/>
          <p:nvPr/>
        </p:nvSpPr>
        <p:spPr>
          <a:xfrm>
            <a:off x="6142263" y="688823"/>
            <a:ext cx="5034997" cy="1828236"/>
          </a:xfrm>
          <a:prstGeom prst="roundRect">
            <a:avLst>
              <a:gd name="adj" fmla="val 5609"/>
            </a:avLst>
          </a:prstGeom>
          <a:solidFill>
            <a:srgbClr val="FBCAC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55B90BC-67C4-6865-A0C7-E404A2E05BD9}"/>
              </a:ext>
            </a:extLst>
          </p:cNvPr>
          <p:cNvSpPr/>
          <p:nvPr/>
        </p:nvSpPr>
        <p:spPr>
          <a:xfrm>
            <a:off x="623469" y="4363859"/>
            <a:ext cx="5034997" cy="2265426"/>
          </a:xfrm>
          <a:prstGeom prst="roundRect">
            <a:avLst>
              <a:gd name="adj" fmla="val 5609"/>
            </a:avLst>
          </a:prstGeom>
          <a:solidFill>
            <a:srgbClr val="FFF1C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A0C6708-069C-FAE2-4476-088BF650E446}"/>
              </a:ext>
            </a:extLst>
          </p:cNvPr>
          <p:cNvSpPr/>
          <p:nvPr/>
        </p:nvSpPr>
        <p:spPr>
          <a:xfrm>
            <a:off x="623469" y="681624"/>
            <a:ext cx="5034997" cy="3381178"/>
          </a:xfrm>
          <a:prstGeom prst="roundRect">
            <a:avLst>
              <a:gd name="adj" fmla="val 5609"/>
            </a:avLst>
          </a:prstGeom>
          <a:solidFill>
            <a:srgbClr val="FDF1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647823-2D8F-0F5F-92B9-B99607AF8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1612" y="21009"/>
            <a:ext cx="11700388" cy="596327"/>
          </a:xfrm>
        </p:spPr>
        <p:txBody>
          <a:bodyPr>
            <a:normAutofit fontScale="70000" lnSpcReduction="20000"/>
          </a:bodyPr>
          <a:lstStyle/>
          <a:p>
            <a:r>
              <a:rPr lang="en-US" sz="3600" b="1" dirty="0">
                <a:solidFill>
                  <a:srgbClr val="002060"/>
                </a:solidFill>
              </a:rPr>
              <a:t>Executive summary as of 31-Dec-24</a:t>
            </a:r>
            <a:endParaRPr lang="en-IN" sz="3600" b="1" dirty="0">
              <a:solidFill>
                <a:srgbClr val="002060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2C1EEE9-8154-A841-5AE4-B675EC552E97}"/>
              </a:ext>
            </a:extLst>
          </p:cNvPr>
          <p:cNvCxnSpPr>
            <a:cxnSpLocks/>
          </p:cNvCxnSpPr>
          <p:nvPr/>
        </p:nvCxnSpPr>
        <p:spPr>
          <a:xfrm>
            <a:off x="623469" y="501443"/>
            <a:ext cx="11037589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9C0F46F-AA2B-FBA3-A446-AFE7CF0903D6}"/>
              </a:ext>
            </a:extLst>
          </p:cNvPr>
          <p:cNvSpPr txBox="1"/>
          <p:nvPr/>
        </p:nvSpPr>
        <p:spPr>
          <a:xfrm>
            <a:off x="746811" y="918393"/>
            <a:ext cx="4788310" cy="29238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Highlights</a:t>
            </a:r>
          </a:p>
          <a:p>
            <a:pPr algn="ctr"/>
            <a:endParaRPr lang="en-US" sz="1200" b="1" dirty="0">
              <a:latin typeface="Aptos" panose="020B00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IN" sz="1400" b="1" dirty="0"/>
              <a:t>Top 5 Selling Products:</a:t>
            </a:r>
            <a:br>
              <a:rPr lang="en-IN" sz="1400" dirty="0"/>
            </a:br>
            <a:r>
              <a:rPr lang="en-IN" sz="1400" dirty="0"/>
              <a:t>MacBook Air, OnePlus 9, Sony Headphones, HP Pavilion, Samsung Galaxy Tab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IN" sz="1400" b="1" dirty="0"/>
              <a:t>Top Categories:</a:t>
            </a:r>
            <a:br>
              <a:rPr lang="en-IN" sz="1400" dirty="0"/>
            </a:br>
            <a:r>
              <a:rPr lang="en-IN" sz="1400" dirty="0"/>
              <a:t>Laptops and Mobiles contributed 46% of total revenue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IN" sz="1400" b="1" dirty="0"/>
              <a:t>Top 3 States by Revenue:</a:t>
            </a:r>
            <a:br>
              <a:rPr lang="en-IN" sz="1400" dirty="0"/>
            </a:br>
            <a:r>
              <a:rPr lang="en-IN" sz="1400" dirty="0"/>
              <a:t>Maharashtra, Gujarat, Rajasthan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IN" sz="1400" b="1" dirty="0"/>
              <a:t>Highest Sales Month:</a:t>
            </a:r>
            <a:br>
              <a:rPr lang="en-IN" sz="1400" dirty="0"/>
            </a:br>
            <a:r>
              <a:rPr lang="en-IN" sz="1400" dirty="0"/>
              <a:t>July (₹134+ million)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IN" sz="1400" b="1" dirty="0"/>
              <a:t>Average Order Value:</a:t>
            </a:r>
            <a:br>
              <a:rPr lang="en-IN" sz="1400" dirty="0"/>
            </a:br>
            <a:r>
              <a:rPr lang="en-IN" sz="1400" dirty="0"/>
              <a:t>₹112.7K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353E4F-2D09-77B6-ECEC-CA1D4DE9C9F0}"/>
              </a:ext>
            </a:extLst>
          </p:cNvPr>
          <p:cNvSpPr txBox="1"/>
          <p:nvPr/>
        </p:nvSpPr>
        <p:spPr>
          <a:xfrm>
            <a:off x="6265605" y="720707"/>
            <a:ext cx="4788310" cy="16309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ptos" panose="020B0004020202020204" pitchFamily="34" charset="0"/>
              </a:rPr>
              <a:t>Risks &amp; Issues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tx1"/>
                </a:solidFill>
                <a:latin typeface="Aptos" panose="020B0004020202020204" pitchFamily="34" charset="0"/>
              </a:rPr>
              <a:t>Lost revenue is 516+ Mn RS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tx1"/>
                </a:solidFill>
                <a:latin typeface="Aptos" panose="020B0004020202020204" pitchFamily="34" charset="0"/>
              </a:rPr>
              <a:t>Cancellation rate of orders is almost 30%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tx1"/>
                </a:solidFill>
                <a:latin typeface="Aptos" panose="020B0004020202020204" pitchFamily="34" charset="0"/>
              </a:rPr>
              <a:t>No fluctuation or hike in the sales, almost identical every alternate month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E5ECF4-F197-279C-1254-249CD464138E}"/>
              </a:ext>
            </a:extLst>
          </p:cNvPr>
          <p:cNvSpPr txBox="1"/>
          <p:nvPr/>
        </p:nvSpPr>
        <p:spPr>
          <a:xfrm>
            <a:off x="746811" y="4424028"/>
            <a:ext cx="4788310" cy="18440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Emerging Concerns</a:t>
            </a:r>
          </a:p>
          <a:p>
            <a:pPr algn="ctr"/>
            <a:endParaRPr lang="en-US" b="1" dirty="0">
              <a:latin typeface="Aptos" panose="020B00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Order cancellation rate is up to 30%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High cancellations are increasing lost revenue and negatively impacting actual revenue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D2AF601-1562-F2DA-E1E8-35241FF2D995}"/>
              </a:ext>
            </a:extLst>
          </p:cNvPr>
          <p:cNvSpPr/>
          <p:nvPr/>
        </p:nvSpPr>
        <p:spPr>
          <a:xfrm>
            <a:off x="6142261" y="2756115"/>
            <a:ext cx="5034997" cy="3873170"/>
          </a:xfrm>
          <a:prstGeom prst="roundRect">
            <a:avLst>
              <a:gd name="adj" fmla="val 5609"/>
            </a:avLst>
          </a:prstGeom>
          <a:solidFill>
            <a:srgbClr val="FDF1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CF4FCEF2-5054-910B-F7D2-BBCC887D09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0910" y="2824567"/>
            <a:ext cx="4677698" cy="366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>
                <a:latin typeface="Aptos" panose="020B0004020202020204" pitchFamily="34" charset="0"/>
              </a:rPr>
              <a:t>Action Required</a:t>
            </a:r>
          </a:p>
          <a:p>
            <a:pPr marR="0" lvl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1400" b="1" dirty="0">
                <a:latin typeface="Aptos" panose="020B0004020202020204" pitchFamily="34" charset="0"/>
              </a:rPr>
              <a:t>Analyze Cancellation Reasons</a:t>
            </a:r>
            <a:r>
              <a:rPr lang="en-US" altLang="en-US" sz="1400" dirty="0">
                <a:latin typeface="Aptos" panose="020B0004020202020204" pitchFamily="34" charset="0"/>
              </a:rPr>
              <a:t>: Identify top causes (e.g., delivery delays, payment failures, product mismatch) through order data analysis.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1400" b="1" dirty="0">
                <a:latin typeface="Aptos" panose="020B0004020202020204" pitchFamily="34" charset="0"/>
              </a:rPr>
              <a:t>Strengthen Customer Support</a:t>
            </a:r>
            <a:r>
              <a:rPr lang="en-US" altLang="en-US" sz="1400" dirty="0">
                <a:latin typeface="Aptos" panose="020B0004020202020204" pitchFamily="34" charset="0"/>
              </a:rPr>
              <a:t>: Offer quick resolution channels (chat, helpline, WhatsApp support) to prevent cancellations.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1400" b="1" dirty="0">
                <a:latin typeface="Aptos" panose="020B0004020202020204" pitchFamily="34" charset="0"/>
              </a:rPr>
              <a:t>Introduce Flexible Policies</a:t>
            </a:r>
            <a:r>
              <a:rPr lang="en-US" altLang="en-US" sz="1400" dirty="0">
                <a:latin typeface="Aptos" panose="020B0004020202020204" pitchFamily="34" charset="0"/>
              </a:rPr>
              <a:t>: Allow easy order modifications or exchanges instead of direct cancellations.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1400" b="1" dirty="0">
                <a:latin typeface="Aptos" panose="020B0004020202020204" pitchFamily="34" charset="0"/>
              </a:rPr>
              <a:t>Implement Incentives</a:t>
            </a:r>
            <a:r>
              <a:rPr lang="en-US" altLang="en-US" sz="1400" dirty="0">
                <a:latin typeface="Aptos" panose="020B0004020202020204" pitchFamily="34" charset="0"/>
              </a:rPr>
              <a:t>: Provide loyalty rewards or small discounts for order retention or prepayment.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1400" b="1" dirty="0">
                <a:latin typeface="Aptos" panose="020B0004020202020204" pitchFamily="34" charset="0"/>
              </a:rPr>
              <a:t>Monitor &amp; Act Quickly</a:t>
            </a:r>
            <a:r>
              <a:rPr lang="en-US" altLang="en-US" sz="1400" dirty="0">
                <a:latin typeface="Aptos" panose="020B0004020202020204" pitchFamily="34" charset="0"/>
              </a:rPr>
              <a:t>: Set up real-time alerts for rising cancellation trends and take corrective action promptly.</a:t>
            </a:r>
          </a:p>
        </p:txBody>
      </p:sp>
    </p:spTree>
    <p:extLst>
      <p:ext uri="{BB962C8B-B14F-4D97-AF65-F5344CB8AC3E}">
        <p14:creationId xmlns:p14="http://schemas.microsoft.com/office/powerpoint/2010/main" val="1361660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8" grpId="0" animBg="1"/>
      <p:bldP spid="8" grpId="0" animBg="1"/>
      <p:bldP spid="3" grpId="0" build="p"/>
      <p:bldP spid="2" grpId="0"/>
      <p:bldP spid="4" grpId="0"/>
      <p:bldP spid="6" grpId="0"/>
      <p:bldP spid="11" grpId="0" animBg="1"/>
    </p:bld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403</TotalTime>
  <Words>226</Words>
  <Application>Microsoft Office PowerPoint</Application>
  <PresentationFormat>Widescreen</PresentationFormat>
  <Paragraphs>26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Arial</vt:lpstr>
      <vt:lpstr>Calibri</vt:lpstr>
      <vt:lpstr>Gill Sans MT</vt:lpstr>
      <vt:lpstr>Wingdings</vt:lpstr>
      <vt:lpstr>Gallery</vt:lpstr>
      <vt:lpstr>Executive Summary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SAURABH BHATKAR</dc:creator>
  <cp:lastModifiedBy>SAURABH BHATKAR</cp:lastModifiedBy>
  <cp:revision>14</cp:revision>
  <dcterms:created xsi:type="dcterms:W3CDTF">2025-06-21T16:38:16Z</dcterms:created>
  <dcterms:modified xsi:type="dcterms:W3CDTF">2025-10-11T12:50:45Z</dcterms:modified>
</cp:coreProperties>
</file>